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 a tous. Nous sommes Yann, Vénus et Faïçal, et nous vous présentons notre</a:t>
            </a:r>
          </a:p>
          <a:p>
            <a:r>
              <a:t>projet de Machine Learning : prédire le sentiment d'avis d'utilisateurs sur des</a:t>
            </a:r>
          </a:p>
          <a:p>
            <a:r>
              <a:t>applications, en trois classes, négatif, neutre et positif. Pendant les prochaines</a:t>
            </a:r>
          </a:p>
          <a:p>
            <a:r>
              <a:t>minutes nous allons vous montrer comment, a partir d'un simple texte d'avis, on</a:t>
            </a:r>
          </a:p>
          <a:p>
            <a:r>
              <a:t>construit une chaîne complète qui nettoie, transforme, entraîne et evalue plusieurs</a:t>
            </a:r>
          </a:p>
          <a:p>
            <a:r>
              <a:t>modèles, puis nous expliquerons pourquoi certains choix comptent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notre fil conducteur. On part du problème, puis des données, puis on deroule</a:t>
            </a:r>
          </a:p>
          <a:p>
            <a:r>
              <a:t>la chaîne de traitement de gauche a droite. On insiste sur deux idees fortes :</a:t>
            </a:r>
          </a:p>
          <a:p>
            <a:r>
              <a:t>d'abord la vectorisation, c'est a dire comment passer du texte aux nombres ; ensuite</a:t>
            </a:r>
          </a:p>
          <a:p>
            <a:r>
              <a:t>les métriques, parce que sur ce projet une bonne accuracy peut cacher un modèle qui</a:t>
            </a:r>
          </a:p>
          <a:p>
            <a:r>
              <a:t>ne marche pas. On termine par les reglages classiques et la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but est concret : a partir du texte d'un avis, prédire automatiquement s'il est</a:t>
            </a:r>
          </a:p>
          <a:p>
            <a:r>
              <a:t>négatif, neutre ou positif. C'est de l'apprentissage supervise, car chaque avis</a:t>
            </a:r>
          </a:p>
          <a:p>
            <a:r>
              <a:t>d'entrainement possede deja une etiquette. L'interet pratique est reel : sur une</a:t>
            </a:r>
          </a:p>
          <a:p>
            <a:r>
              <a:t>application qui recoit des milliers d'avis, on veut reperer vite les mecontents,</a:t>
            </a:r>
          </a:p>
          <a:p>
            <a:r>
              <a:t>suivre la satisfaction, et ne pas tout lire a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: nous n'utilisons pas de données inventees, mais de vrais avis</a:t>
            </a:r>
          </a:p>
          <a:p>
            <a:r>
              <a:t>Facebook telecharges sur Kaggle. Chaque avis a une note de une a cinq etoiles que</a:t>
            </a:r>
          </a:p>
          <a:p>
            <a:r>
              <a:t>l'on transforme en sentiment : une ou deux etoiles c'est négatif, trois c'est</a:t>
            </a:r>
          </a:p>
          <a:p>
            <a:r>
              <a:t>neutre, quatre ou cinq c'est positif. On supprime les doublons de texte pour eviter</a:t>
            </a:r>
          </a:p>
          <a:p>
            <a:r>
              <a:t>qu'un meme avis se retrouve a la fois en entrainement et en test. Il reste 5 923</a:t>
            </a:r>
          </a:p>
          <a:p>
            <a:r>
              <a:t>avis. Regardez le déséquilibre a droite : deux tiers d'avis positifs et seulement</a:t>
            </a:r>
          </a:p>
          <a:p>
            <a:r>
              <a:t>4,5 pourcent de neutres. Ce déséquilibre sera au coeur de notre 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la chaîne complète, a lire de gauche a droite. On part du texte brut, on le</a:t>
            </a:r>
          </a:p>
          <a:p>
            <a:r>
              <a:t>nettoie, on le transforme en nombres, on peut rEequilibrer les classes et reduire</a:t>
            </a:r>
          </a:p>
          <a:p>
            <a:r>
              <a:t>la dimension, puis on entraîne un modèle regle, et enfin on evalue. Deux choix</a:t>
            </a:r>
          </a:p>
          <a:p>
            <a:r>
              <a:t>d'ingenierie : on nettoie une seule fois car cette etape n'apprend rien, ce qui</a:t>
            </a:r>
          </a:p>
          <a:p>
            <a:r>
              <a:t>rend tout plus rapide ; et l'equilibrage comme la réduction ne touchent que les</a:t>
            </a:r>
          </a:p>
          <a:p>
            <a:r>
              <a:t>données d'entrainement, jamais le test, pour que nos résultats restent honnetes.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prétraitement suit la sequence classique : minuscules, retrait de la ponctuation,</a:t>
            </a:r>
          </a:p>
          <a:p>
            <a:r>
              <a:t>des URL et des chiffres, puis tokenisation et suppression des mots vides. Deux</a:t>
            </a:r>
          </a:p>
          <a:p>
            <a:r>
              <a:t>finesses a defendre. D'abord on conserve les negations, car not good et good ont des</a:t>
            </a:r>
          </a:p>
          <a:p>
            <a:r>
              <a:t>sens opposes ; les supprimer detruirait le signal. Ensuite la lemmatisation regroupe</a:t>
            </a:r>
          </a:p>
          <a:p>
            <a:r>
              <a:t>les formes d'un mot, crashing et crash deviennent le meme mot, ce qui reduit le</a:t>
            </a:r>
          </a:p>
          <a:p>
            <a:r>
              <a:t>vocabulaire. L'exemple en bas montre le resultat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modèles ne comprennent que des nombres, il faut donc transformer le texte. On</a:t>
            </a:r>
          </a:p>
          <a:p>
            <a:r>
              <a:t>compare quatre representations demandees par le sujet. Bag-of-Words compte les mots.</a:t>
            </a:r>
          </a:p>
          <a:p>
            <a:r>
              <a:t>TF-IDF fait pareil mais valorise les mots rares et discriminants. Word2Vec represente</a:t>
            </a:r>
          </a:p>
          <a:p>
            <a:r>
              <a:t>chaque mot par un vecteur dense ; on en a deux versions, une entrainee sur nos avis</a:t>
            </a:r>
          </a:p>
          <a:p>
            <a:r>
              <a:t>et une pre-entrainee sur Google News, qui est exactement le pre-trained Word2Vec du</a:t>
            </a:r>
          </a:p>
          <a:p>
            <a:r>
              <a:t>sujet. BERT est fourni en option. Detail technique utile : Naive Bayes multinomial</a:t>
            </a:r>
          </a:p>
          <a:p>
            <a:r>
              <a:t>exige des valeurs positives, donc pour les embeddings on passe automatiquement a la</a:t>
            </a:r>
          </a:p>
          <a:p>
            <a:r>
              <a:t>version gaussienne.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comparons cinq classifieurs, du plus simple au plus riche. Naive Bayes suppose</a:t>
            </a:r>
          </a:p>
          <a:p>
            <a:r>
              <a:t>les mots independants, c'est faux mais tres efficace et ce sera notre gagnant. L'arbre</a:t>
            </a:r>
          </a:p>
          <a:p>
            <a:r>
              <a:t>de decision est lisible mais surapprend, d'ou l'élagage. La forêt aleatoire moyenne</a:t>
            </a:r>
          </a:p>
          <a:p>
            <a:r>
              <a:t>beaucoup d'arbres. AdaBoost combine des souches, mais sur du texte creux il est</a:t>
            </a:r>
          </a:p>
          <a:p>
            <a:r>
              <a:t>faible. La regression logistique est une baseline solide avec regularisation. Tous</a:t>
            </a:r>
          </a:p>
          <a:p>
            <a:r>
              <a:t>sont regles par validation croisee en cinq blocs et recherche sur grille, en</a:t>
            </a:r>
          </a:p>
          <a:p>
            <a:r>
              <a:t>optimisant le macro-F1 que nous expliquons juste apres.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mots a maitriser. L'accuracy est la proportion globale de bonnes reponses,</a:t>
            </a:r>
          </a:p>
          <a:p>
            <a:r>
              <a:t>mais elle trompe quand une classe domine. La precision repond a : quand le modèle</a:t>
            </a:r>
          </a:p>
          <a:p>
            <a:r>
              <a:t>annonce une classe, a-t-il raison. Le rappel repond a : parmi les vrais cas d'une</a:t>
            </a:r>
          </a:p>
          <a:p>
            <a:r>
              <a:t>classe, combien sont retrouves. Le F1 combine les deux. Et le macro-F1 fait la</a:t>
            </a:r>
          </a:p>
          <a:p>
            <a:r>
              <a:t>moyenne des F1 des trois classes a egalite, donc rater la classe rare coute cher.</a:t>
            </a:r>
          </a:p>
          <a:p>
            <a:r>
              <a:t>C'est pour cela qu'on l'a choisi comme critere. Retenez la phrase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la comparaison de toutes les combinaisons. Le meilleur est TF-IDF avec Naive</a:t>
            </a:r>
          </a:p>
          <a:p>
            <a:r>
              <a:t>Bayes, a 0,559 de macro-F1. Le tableau a droite montre le meilleur modèle pour chaque</a:t>
            </a:r>
          </a:p>
          <a:p>
            <a:r>
              <a:t>vectoriseur. Deux observations : les cinq premiers sont tous des methodes par comptage,</a:t>
            </a:r>
          </a:p>
          <a:p>
            <a:r>
              <a:t>TF-IDF ou Bag-of-Words, ce qui est logique sur des avis courts ; et AdaBoost est bon</a:t>
            </a:r>
          </a:p>
          <a:p>
            <a:r>
              <a:t>dernier car ses souches ne voient qu'un mot a la fois parmi des milliers. Les scores</a:t>
            </a:r>
          </a:p>
          <a:p>
            <a:r>
              <a:t>sont serres, autour de 0,5, parce que tous les modèles butent sur la meme difficulte.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slide est le coeur de notre message. Notre meilleur modèle affiche 84 pourcent</a:t>
            </a:r>
          </a:p>
          <a:p>
            <a:r>
              <a:t>d'accuracy, ce qui parait excellent. Mais regardez la matrice de confusion : la</a:t>
            </a:r>
          </a:p>
          <a:p>
            <a:r>
              <a:t>colonne neutre est entierement vide. Autrement dit, le modèle ne predit jamais la</a:t>
            </a:r>
          </a:p>
          <a:p>
            <a:r>
              <a:t>classe neutre. Les 53 vrais avis neutres sont tous classes en négatif ou positif. Le</a:t>
            </a:r>
          </a:p>
          <a:p>
            <a:r>
              <a:t>macro-F1, lui, chute a 0,56 et revele ce problème. La lecon : sur des données</a:t>
            </a:r>
          </a:p>
          <a:p>
            <a:r>
              <a:t>desequilibrees, l'accuracy ment, il faut regarder le macro-F1 et le rappel par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attaque maintenant le déséquilibre. Sans aucun traitement, le rappel de la classe</a:t>
            </a:r>
          </a:p>
          <a:p>
            <a:r>
              <a:t>neutre est exactement zero : la minorite est ignoree. SMOTE genere des exemples</a:t>
            </a:r>
          </a:p>
          <a:p>
            <a:r>
              <a:t>neutres synthetiques en interpolant entre voisins, et fait remonter ce rappel de zero</a:t>
            </a:r>
          </a:p>
          <a:p>
            <a:r>
              <a:t>a 0,19. Le sous-échantillonnage, qui supprime des exemples majoritaires, va encore</a:t>
            </a:r>
          </a:p>
          <a:p>
            <a:r>
              <a:t>plus loin a 0,47, mais au prix de données jetees et d'une accuracy plus basse. Le</a:t>
            </a:r>
          </a:p>
          <a:p>
            <a:r>
              <a:t>message : le reequilibrage echange de l'accuracy contre une vraie reconnaissance de</a:t>
            </a:r>
          </a:p>
          <a:p>
            <a:r>
              <a:t>la classe rare. C'est exactement ce qu'on veut sur ce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réduction de dimension. Notre matrice TF-IDF a environ 4 600 colonnes. On utilise</a:t>
            </a:r>
          </a:p>
          <a:p>
            <a:r>
              <a:t>TruncatedSVD, qui est l'equivalent de la PCA adapte aux données creuses, car la PCA</a:t>
            </a:r>
          </a:p>
          <a:p>
            <a:r>
              <a:t>classique densifierait la matrice. Le resultat est net : avec seulement 300</a:t>
            </a:r>
          </a:p>
          <a:p>
            <a:r>
              <a:t>composantes, soit 6,5 pourcent des colonnes, on conserve quasiment toute la</a:t>
            </a:r>
          </a:p>
          <a:p>
            <a:r>
              <a:t>performance. C'est un excellent compromis vitesse memoire, et c'est meme indispensable</a:t>
            </a:r>
          </a:p>
          <a:p>
            <a:r>
              <a:t>avant d'utiliser un modèle dense comme le gradient boosting.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L'élagage de l'arbre de decision. Un arbre laisse libre construit 1 857 noeuds et</a:t>
            </a:r>
          </a:p>
          <a:p>
            <a:r>
              <a:t>memorise les données d'entrainement : 0,98 en train mais seulement 0,76 en test, donc</a:t>
            </a:r>
          </a:p>
          <a:p>
            <a:r>
              <a:t>il surapprend. En elaguant par cout-complexite, on reduit l'arbre a 69 noeuds et la</a:t>
            </a:r>
          </a:p>
          <a:p>
            <a:r>
              <a:t>performance de test monte a 0,79, tout en reduisant l'ecart entre train et test. Si</a:t>
            </a:r>
          </a:p>
          <a:p>
            <a:r>
              <a:t>on elague trop, vers 29 noeuds, l'arbre devient trop simple et sous-apprend. C'est</a:t>
            </a:r>
          </a:p>
          <a:p>
            <a:r>
              <a:t>l'illustration concrete du compromis biais-variance.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reglage, l'early stopping pour le gradient boosting, un modèle qui ajoute des</a:t>
            </a:r>
          </a:p>
          <a:p>
            <a:r>
              <a:t>arbres un par un. On autorise jusqu'a 500 arbres, mais on surveille une part de</a:t>
            </a:r>
          </a:p>
          <a:p>
            <a:r>
              <a:t>validation et on arrete des que la performance ne progresse plus. Ici l'arret survient</a:t>
            </a:r>
          </a:p>
          <a:p>
            <a:r>
              <a:t>a 88 arbres sur 500 : environ six fois moins de calcul, sans aucune perte de qualite,</a:t>
            </a:r>
          </a:p>
          <a:p>
            <a:r>
              <a:t>et une protection contre le surapprentissage. C'est simple et tres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Pour conclure. Nous avons construit une chaîne complète et reproductible sur de vrais</a:t>
            </a:r>
          </a:p>
          <a:p>
            <a:r>
              <a:t>avis Facebook, compare quatre representations du texte et cinq modèles, tous regles</a:t>
            </a:r>
          </a:p>
          <a:p>
            <a:r>
              <a:t>par validation croisee. Le meilleur est TF-IDF avec Naive Bayes a 0,559 de macro-F1.</a:t>
            </a:r>
          </a:p>
          <a:p>
            <a:r>
              <a:t>La lecon principale est methodologique : sur un jeu déséquilibre, l'accuracy trompe et</a:t>
            </a:r>
          </a:p>
          <a:p>
            <a:r>
              <a:t>c'est le macro-F1 qui dit la verite. SMOTE est ce qui permet a la classe minoritaire</a:t>
            </a:r>
          </a:p>
          <a:p>
            <a:r>
              <a:t>d'exister. Enfin, élagage, réduction de dimension et early stopping maitrisent le</a:t>
            </a:r>
          </a:p>
          <a:p>
            <a:r>
              <a:t>surapprentissage. Merci, nous sommes prets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Soyons honnetes sur les limites. Nos etiquettes viennent des etoiles, c'est un signal</a:t>
            </a:r>
          </a:p>
          <a:p>
            <a:r>
              <a:t>approximatif. La classe neutre est minuscule et ambigue. Et le texte est court, bruite</a:t>
            </a:r>
          </a:p>
          <a:p>
            <a:r>
              <a:t>et parfois dans une autre langue. Cote perspectives, on peut activer BERT grace au</a:t>
            </a:r>
          </a:p>
          <a:p>
            <a:r>
              <a:t>script que nous fournissons, essayer la ponderation des classes et des seuils</a:t>
            </a:r>
          </a:p>
          <a:p>
            <a:r>
              <a:t>ajustes, et collecter de vraies issues GitHub ou JIRA pour completer.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Merci, nous repondrons maintenant a vos questions. Pensez au macro-F1 et a SMOTE pour les questions sur les métriques et le déséquilibre.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User Sentiment</a:t>
            </a:r>
          </a:p>
          <a:p>
            <a:r>
              <a:rPr sz="4400" b="1">
                <a:solidFill>
                  <a:srgbClr val="FFFFFF"/>
                </a:solidFill>
              </a:rPr>
              <a:t>in Software Issue Reports</a:t>
            </a:r>
          </a:p>
          <a:p>
            <a:r>
              <a:rPr sz="1800">
                <a:solidFill>
                  <a:srgbClr val="C9D6EA"/>
                </a:solidFill>
              </a:rPr>
              <a:t>Analyse de sentiment d'avis applicatifs : négatif / neutre / positif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Yann MASSOUAM    ·    Vénus BAKIKO    ·    Faïçal DIELO</a:t>
            </a:r>
          </a:p>
          <a:p>
            <a:r>
              <a:rPr sz="1400">
                <a:solidFill>
                  <a:srgbClr val="C9D6EA"/>
                </a:solidFill>
              </a:rPr>
              <a:t>ST2MLE  ·  Machine Learning for IT 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FIL CONDUCTEUR</a:t>
            </a:r>
          </a:p>
          <a:p>
            <a:r>
              <a:rPr sz="2600" b="1">
                <a:solidFill>
                  <a:srgbClr val="FFFFFF"/>
                </a:solidFill>
              </a:rPr>
              <a:t>Plan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 problème et pourquoi il est utile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Les données : de vrais avis, un fort déséquilibre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La chaîne de traitement, etape par etape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Comment on transforme le texte en nombres (vectorisation)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Les cinq modèles compares et leur reglage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Les métriques, expliquees simplement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Résultats, le piege de l'accuracy, et ce que SMOTE corrige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Réglages : réduction de dimension, élagage, early stopping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Conclusion, limites et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1. CONTEXTE</a:t>
            </a:r>
          </a:p>
          <a:p>
            <a:r>
              <a:rPr sz="2600" b="1">
                <a:solidFill>
                  <a:srgbClr val="FFFFFF"/>
                </a:solidFill>
              </a:rPr>
              <a:t>Le problème et son interet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E26D3C"/>
                </a:solidFill>
              </a:rPr>
              <a:t>●  </a:t>
            </a:r>
            <a:r>
              <a:rPr sz="1900">
                <a:solidFill>
                  <a:srgbClr val="1A1A1A"/>
                </a:solidFill>
              </a:rPr>
              <a:t>Objectif : classer automatiquement le sentiment d'un avis applicatif.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E26D3C"/>
                </a:solidFill>
              </a:rPr>
              <a:t>●  </a:t>
            </a:r>
            <a:r>
              <a:rPr sz="1900">
                <a:solidFill>
                  <a:srgbClr val="1A1A1A"/>
                </a:solidFill>
              </a:rPr>
              <a:t>Trois classes : négatif, neutre, positif (apprentissage supervise).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E26D3C"/>
                </a:solidFill>
              </a:rPr>
              <a:t>●  </a:t>
            </a:r>
            <a:r>
              <a:rPr sz="1900">
                <a:solidFill>
                  <a:srgbClr val="1A1A1A"/>
                </a:solidFill>
              </a:rPr>
              <a:t>Entree : le texte d'un avis.  Sortie : une classe.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E26D3C"/>
                </a:solidFill>
              </a:rPr>
              <a:t>●  </a:t>
            </a:r>
            <a:r>
              <a:rPr sz="1900">
                <a:solidFill>
                  <a:srgbClr val="1A1A1A"/>
                </a:solidFill>
              </a:rPr>
              <a:t>Pourquoi c'est utile :</a:t>
            </a:r>
          </a:p>
          <a:p>
            <a:pPr lvl="1">
              <a:spcAft>
                <a:spcPts val="800"/>
              </a:spcAft>
            </a:pPr>
            <a:r>
              <a:rPr sz="1900" b="1">
                <a:solidFill>
                  <a:srgbClr val="1F3B6E"/>
                </a:solidFill>
              </a:rPr>
              <a:t>–  </a:t>
            </a:r>
            <a:r>
              <a:rPr sz="1700">
                <a:solidFill>
                  <a:srgbClr val="1A1A1A"/>
                </a:solidFill>
              </a:rPr>
              <a:t>Trier en priorite les avis negatifs a traiter</a:t>
            </a:r>
          </a:p>
          <a:p>
            <a:pPr lvl="1">
              <a:spcAft>
                <a:spcPts val="800"/>
              </a:spcAft>
            </a:pPr>
            <a:r>
              <a:rPr sz="1900" b="1">
                <a:solidFill>
                  <a:srgbClr val="1F3B6E"/>
                </a:solidFill>
              </a:rPr>
              <a:t>–  </a:t>
            </a:r>
            <a:r>
              <a:rPr sz="1700">
                <a:solidFill>
                  <a:srgbClr val="1A1A1A"/>
                </a:solidFill>
              </a:rPr>
              <a:t>Mesurer la satisfaction et suivre les tendances</a:t>
            </a:r>
          </a:p>
          <a:p>
            <a:pPr lvl="1">
              <a:spcAft>
                <a:spcPts val="800"/>
              </a:spcAft>
            </a:pPr>
            <a:r>
              <a:rPr sz="1900" b="1">
                <a:solidFill>
                  <a:srgbClr val="1F3B6E"/>
                </a:solidFill>
              </a:rPr>
              <a:t>–  </a:t>
            </a:r>
            <a:r>
              <a:rPr sz="1700">
                <a:solidFill>
                  <a:srgbClr val="1A1A1A"/>
                </a:solidFill>
              </a:rPr>
              <a:t>Gagner du temps face a des milliers d'avis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2. DONNÉES</a:t>
            </a:r>
          </a:p>
          <a:p>
            <a:r>
              <a:rPr sz="2600" b="1">
                <a:solidFill>
                  <a:srgbClr val="FFFFFF"/>
                </a:solidFill>
              </a:rPr>
              <a:t>Les données : de vrais avis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Avis Facebook reels (Kaggle) : texte + note de 1 a 5 etoiles.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Note vers sentiment : 1-2 = négatif, 3 = neutre, 4-5 = positif.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Apres deduplication du texte : 5 923 avis uniques.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Déséquilibre naturel et fort :</a:t>
            </a:r>
          </a:p>
          <a:p>
            <a:pPr lvl="1">
              <a:spcAft>
                <a:spcPts val="8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positif 64 %  ·  négatif 31 %  ·  neutre 4,5 %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8000" y="2030463"/>
            <a:ext cx="5017760" cy="325427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070463"/>
            <a:ext cx="4937760" cy="31742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3. VUE D'ENSEMBLE</a:t>
            </a:r>
          </a:p>
          <a:p>
            <a:r>
              <a:rPr sz="2600" b="1">
                <a:solidFill>
                  <a:srgbClr val="FFFFFF"/>
                </a:solidFill>
              </a:rPr>
              <a:t>La chaîne de traitement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377440"/>
            <a:ext cx="1481328" cy="10972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Texte brut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9280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2377440"/>
            <a:ext cx="1481328" cy="109728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Prétraitement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872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2377440"/>
            <a:ext cx="1481328" cy="10972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Vectorisation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2377440"/>
            <a:ext cx="1481328" cy="109728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Equilibrage
(train)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60" y="2377440"/>
            <a:ext cx="1481328" cy="10972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Réduction
(option)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77440"/>
            <a:ext cx="1481328" cy="109728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Modele
+ reglage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22408" y="2377440"/>
            <a:ext cx="164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26D3C"/>
                </a:solidFill>
                <a:latin typeface="Calibri"/>
              </a:rPr>
              <a:t>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87000" y="2377440"/>
            <a:ext cx="1481328" cy="10972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Évaluation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E26D3C"/>
                </a:solidFill>
              </a:rPr>
              <a:t>●  </a:t>
            </a:r>
            <a:r>
              <a:rPr sz="1600">
                <a:solidFill>
                  <a:srgbClr val="1A1A1A"/>
                </a:solidFill>
              </a:rPr>
              <a:t>Pretraiter une seule fois (operation sans apprentissage) puis mettre en cache : etude complète en environ 8 minutes.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E26D3C"/>
                </a:solidFill>
              </a:rPr>
              <a:t>●  </a:t>
            </a:r>
            <a:r>
              <a:rPr sz="1600">
                <a:solidFill>
                  <a:srgbClr val="1A1A1A"/>
                </a:solidFill>
              </a:rPr>
              <a:t>L'equilibrage et la réduction n'agissent que sur l'entrainement : aucune fuite vers le 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3A. NETTOYAGE</a:t>
            </a:r>
          </a:p>
          <a:p>
            <a:r>
              <a:rPr sz="2600" b="1">
                <a:solidFill>
                  <a:srgbClr val="FFFFFF"/>
                </a:solidFill>
              </a:rPr>
              <a:t>Prétraitement du 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Minuscules, suppression des URL, de la ponctuation et des chiffres.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Tokenisation, puis suppression des mots vides (stop-words).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On garde les negations (not, no, never) : elles inversent le sentiment.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Lemmatisation : crashing devient crash, issues devient issue.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14800"/>
            <a:ext cx="10972800" cy="173736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1400" b="1">
                <a:solidFill>
                  <a:srgbClr val="E26D3C"/>
                </a:solidFill>
                <a:latin typeface="Calibri"/>
              </a:rPr>
              <a:t>Exemple</a:t>
            </a:r>
          </a:p>
          <a:p>
            <a:r>
              <a:rPr sz="1600">
                <a:solidFill>
                  <a:srgbClr val="1A1A1A"/>
                </a:solidFill>
              </a:rPr>
              <a:t>"Critical issue -- The app keeps crashing!!!"   devient   "critical issue app keep crash"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3B. VECTORISATION</a:t>
            </a:r>
          </a:p>
          <a:p>
            <a:r>
              <a:rPr sz="2600" b="1">
                <a:solidFill>
                  <a:srgbClr val="FFFFFF"/>
                </a:solidFill>
              </a:rPr>
              <a:t>Transformer le texte en nombres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Méthode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Idée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Sortie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Bag-of-Words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compte les mots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creux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TF-IDF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compte, pondere par la rarete du mot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creux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vecteurs appris sur nos avis (moyenne)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Word2Vec pre-entraîne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vecteurs Google News (moyenne)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BERT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embeddings contextuels (code fourni)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Creux et positif (BoW, TF-IDF) : compatible avec Naive Bayes multinomial.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Dense (embeddings) : on bascule sur Naive Bayes gaussien.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BERT respecte le sujet (option) : execute via un script pret pour Colab.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3C. CLASSIFIEURS</a:t>
            </a:r>
          </a:p>
          <a:p>
            <a:r>
              <a:rPr sz="2600" b="1">
                <a:solidFill>
                  <a:srgbClr val="FFFFFF"/>
                </a:solidFill>
              </a:rPr>
              <a:t>Cinq modèles compares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Intuition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Remarque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Naive Bayes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probabilites des mots par classe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rapide, robuste, gagnant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Arbre de decision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questions oui/non sur les mots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a elaguer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Forêt aleatoire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moyenne de nombreux arbres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robuste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AdaBoost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souches combinees, focus erreurs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faible sur texte creux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</a:rPr>
                        <a:t>Regression logistique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frontiere lineaire reguliere (L2)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</a:rPr>
                        <a:t>baseline solide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26D3C"/>
                </a:solidFill>
              </a:rPr>
              <a:t>●  </a:t>
            </a:r>
            <a:r>
              <a:rPr sz="1600">
                <a:solidFill>
                  <a:srgbClr val="1A1A1A"/>
                </a:solidFill>
              </a:rPr>
              <a:t>Tous regles par validation croisee 5-fold et GridSearchCV.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26D3C"/>
                </a:solidFill>
              </a:rPr>
              <a:t>●  </a:t>
            </a:r>
            <a:r>
              <a:rPr sz="1600">
                <a:solidFill>
                  <a:srgbClr val="1A1A1A"/>
                </a:solidFill>
              </a:rPr>
              <a:t>Critere de reglage : le macro-F1 (toutes les classes a egalite).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4. ÉVALUATION</a:t>
            </a:r>
          </a:p>
          <a:p>
            <a:r>
              <a:rPr sz="2600" b="1">
                <a:solidFill>
                  <a:srgbClr val="FFFFFF"/>
                </a:solidFill>
              </a:rPr>
              <a:t>Les métriques, simplement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Accuracy : proportion globale de bonnes predictions. Trompeuse si déséquilibre.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Precision (classe X) : quand le modèle dit X, a-t-il raison ?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Rappel (classe X) : parmi les vrais X, combien sont retrouves ?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F1 : moyenne harmonique de precision et rappel.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Macro-F1 : moyenne des F1 des trois classes, a egalite.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solidFill>
            <a:srgbClr val="FB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1600" b="1">
                <a:solidFill>
                  <a:srgbClr val="1F3B6E"/>
                </a:solidFill>
                <a:latin typeface="Calibri"/>
              </a:rPr>
              <a:t>A retenir : sur un jeu déséquilibre, on regarde le macro-F1 et le rappel par classe, pas seulement l'accuracy.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5. RÉSULTATS</a:t>
            </a:r>
          </a:p>
          <a:p>
            <a:r>
              <a:rPr sz="2600" b="1">
                <a:solidFill>
                  <a:srgbClr val="FFFFFF"/>
                </a:solidFill>
              </a:rPr>
              <a:t>Résultats : comparaison des modèles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7200" y="1687200"/>
            <a:ext cx="7029440" cy="3940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mparison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27200"/>
            <a:ext cx="6949440" cy="3860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0" y="1828800"/>
          <a:ext cx="4023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Meilleur par vectoriseur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TF-IDF + Naive Bayes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BoW + Naive Bayes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0,548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W2V pre-entraîne + Forêt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Word2Vec + Rég. log.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0,537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4480560"/>
            <a:ext cx="4114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E26D3C"/>
                </a:solidFill>
              </a:rPr>
              <a:t>●  </a:t>
            </a:r>
            <a:r>
              <a:rPr sz="1400">
                <a:solidFill>
                  <a:srgbClr val="1A1A1A"/>
                </a:solidFill>
              </a:rPr>
              <a:t>Top 5 : uniquement TF-IDF / BoW.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E26D3C"/>
                </a:solidFill>
              </a:rPr>
              <a:t>●  </a:t>
            </a:r>
            <a:r>
              <a:rPr sz="1400">
                <a:solidFill>
                  <a:srgbClr val="1A1A1A"/>
                </a:solidFill>
              </a:rPr>
              <a:t>AdaBoost ferme la marche.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5. LECTURE FINE</a:t>
            </a:r>
          </a:p>
          <a:p>
            <a:r>
              <a:rPr sz="2600" b="1">
                <a:solidFill>
                  <a:srgbClr val="FFFFFF"/>
                </a:solidFill>
              </a:rPr>
              <a:t>Le piege de l'accuracy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37520" y="1240160"/>
            <a:ext cx="5891520" cy="483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F-IDF_Naive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" y="1280160"/>
            <a:ext cx="581152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15544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Meilleur modèle : accuracy 0,84 mais macro-F1 0,56.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La colonne neutre est vide : le modèle ne predit jamais neutre.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Les 53 vrais neutres tombent en négatif ou positif.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Sans le macro-F1, on n'aurait jamais vu ce defaut.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5. RÉSULTAT CLÉ</a:t>
            </a:r>
          </a:p>
          <a:p>
            <a:r>
              <a:rPr sz="2600" b="1">
                <a:solidFill>
                  <a:srgbClr val="FFFFFF"/>
                </a:solidFill>
              </a:rPr>
              <a:t>Le déséquilibre : ce que SMOTE corrige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6583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Stratégie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Rappel neutre</a:t>
                      </a:r>
                    </a:p>
                  </a:txBody>
                  <a:tcPr>
                    <a:solidFill>
                      <a:srgbClr val="1F3B6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Aucune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SMOTE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0,727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0,551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0,189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</a:rPr>
                        <a:t>Sous-échantillonnage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0,601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</a:rPr>
                        <a:t>0,472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8079" y="1534074"/>
            <a:ext cx="4286240" cy="278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balance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574074"/>
            <a:ext cx="4206240" cy="270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8404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Sans traitement, rappel neutre exactement nul.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SMOTE cree des exemples neutres synthetiques : rappel 0 vers 0,19.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Le sous-échantillonnage va plus loin (0,47) mais jette des données.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26D3C"/>
                </a:solidFill>
              </a:rPr>
              <a:t>●  </a:t>
            </a:r>
            <a:r>
              <a:rPr sz="1500">
                <a:solidFill>
                  <a:srgbClr val="1A1A1A"/>
                </a:solidFill>
              </a:rPr>
              <a:t>Compromis assume : moins d'accuracy, plus de minorite reconnue.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6. RÉGLAGES</a:t>
            </a:r>
          </a:p>
          <a:p>
            <a:r>
              <a:rPr sz="2600" b="1">
                <a:solidFill>
                  <a:srgbClr val="FFFFFF"/>
                </a:solidFill>
              </a:rPr>
              <a:t>Réduction de dimension (PCA / TruncatedSVD)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60800" y="1912897"/>
            <a:ext cx="5383520" cy="3489405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ca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52897"/>
            <a:ext cx="5303520" cy="3409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TF-IDF a environ 4 600 colonnes (le vocabulaire).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TruncatedSVD : equivalent de la PCA adapte au texte creux.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300 composantes (6,5 %) gardent presque toute la performance.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Gain de vitesse et de memoire, indispensable avant un modèle dense.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6. RÉGLAGES</a:t>
            </a:r>
          </a:p>
          <a:p>
            <a:r>
              <a:rPr sz="2600" b="1">
                <a:solidFill>
                  <a:srgbClr val="FFFFFF"/>
                </a:solidFill>
              </a:rPr>
              <a:t>Élagage de l'arbre de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60800" y="1912897"/>
            <a:ext cx="5383520" cy="3489405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uning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52897"/>
            <a:ext cx="5303520" cy="3409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Arbre non elague : 1 857 noeuds, surapprentissage (train 0,98 / test 0,76).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Meilleur élagage : 69 noeuds, test 0,79.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Elaguer trop (29 noeuds) commence a sous-apprendre.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Compromis biais-variance rendu visible.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6. RÉGLAGES</a:t>
            </a:r>
          </a:p>
          <a:p>
            <a:r>
              <a:rPr sz="2600" b="1">
                <a:solidFill>
                  <a:srgbClr val="FFFFFF"/>
                </a:solidFill>
              </a:rPr>
              <a:t>Early stopping (gradient boosting)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60800" y="1912897"/>
            <a:ext cx="5383520" cy="3489405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arly_sto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52897"/>
            <a:ext cx="5303520" cy="3409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On autorise jusqu'a 500 arbres ajoutes un par un.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On surveille une part de validation et on arrete quand ca stagne.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Arrêt a 88 arbres sur 500 : environ six fois moins de calcul.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Protege du surapprentissage sans perte de qualite.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7. BILAN</a:t>
            </a:r>
          </a:p>
          <a:p>
            <a:r>
              <a:rPr sz="2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Chaîne complète et reproductible sur de vrais avis Facebook.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Comparaison de quatre vectoriseurs et cinq modèles, regles par CV.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Meilleur modèle : TF-IDF + Naive Bayes, macro-F1 0,559.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Lecon majeure : l'accuracy trompe, le macro-F1 dit la verite.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SMOTE est decisif pour faire exister la classe minoritaire.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E26D3C"/>
                </a:solidFill>
              </a:rPr>
              <a:t>●  </a:t>
            </a:r>
            <a:r>
              <a:rPr sz="1800">
                <a:solidFill>
                  <a:srgbClr val="1A1A1A"/>
                </a:solidFill>
              </a:rPr>
              <a:t>Élagage, réduction et early stopping limitent le surapprentissage.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E26D3C"/>
                </a:solidFill>
              </a:rPr>
              <a:t>7. OUVERTURE</a:t>
            </a:r>
          </a:p>
          <a:p>
            <a:r>
              <a:rPr sz="2600" b="1">
                <a:solidFill>
                  <a:srgbClr val="FFFFFF"/>
                </a:solidFill>
              </a:rPr>
              <a:t>Limites et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Limites :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Etiquettes derivees des etoiles : un signal approximatif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Classe neutre minuscule et ambigue (4,5 %)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Texte court, bruite, parfois multilingue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E26D3C"/>
                </a:solidFill>
              </a:rPr>
              <a:t>●  </a:t>
            </a:r>
            <a:r>
              <a:rPr sz="1700">
                <a:solidFill>
                  <a:srgbClr val="1A1A1A"/>
                </a:solidFill>
              </a:rPr>
              <a:t>Perspectives :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Activer BERT (script pret pour Colab)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Ponderation des classes et seuils ajustes</a:t>
            </a:r>
          </a:p>
          <a:p>
            <a:pPr lvl="1"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–  </a:t>
            </a:r>
            <a:r>
              <a:rPr sz="1500">
                <a:solidFill>
                  <a:srgbClr val="1A1A1A"/>
                </a:solidFill>
              </a:rPr>
              <a:t>Collecter des issues GitHub ou JIRA reelles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73152"/>
          </a:xfrm>
          <a:prstGeom prst="rect">
            <a:avLst/>
          </a:prstGeom>
          <a:solidFill>
            <a:srgbClr val="E26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/>
            <a:r>
              <a:rPr sz="2400">
                <a:solidFill>
                  <a:srgbClr val="C9D6EA"/>
                </a:solidFill>
              </a:rP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Yann MASSOUAM   ·   Vénus BAKIKO   ·   Faïçal DIELO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Predicting User Sentiment in Software Issue Reports        ·    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