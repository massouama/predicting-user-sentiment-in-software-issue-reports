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everyone. We are Yann, Vénus and Faïçal, and we will present our machine</a:t>
            </a:r>
          </a:p>
          <a:p>
            <a:r>
              <a:t>learning project: predicting the sentiment of user reviews of applications, in three</a:t>
            </a:r>
          </a:p>
          <a:p>
            <a:r>
              <a:t>classes, negative, neutral and positive. In about twenty minutes we will show how, from</a:t>
            </a:r>
          </a:p>
          <a:p>
            <a:r>
              <a:t>a simple review text, we build a full pipeline that cleans, transforms, trains and</a:t>
            </a:r>
          </a:p>
          <a:p>
            <a:r>
              <a:t>evaluates several models, and we will explain why a few choices really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our roadmap. We start with the problem and the data, then we walk through the</a:t>
            </a:r>
          </a:p>
          <a:p>
            <a:r>
              <a:t>pipeline from left to right. We insist on two key ideas: vectorisation, that is turning</a:t>
            </a:r>
          </a:p>
          <a:p>
            <a:r>
              <a:t>text into numbers, and the metrics, because on this project a high accuracy can hide a</a:t>
            </a:r>
          </a:p>
          <a:p>
            <a:r>
              <a:t>model that does not work. We finish with the tuning experiments and the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goal is concrete: from the text of a review, automatically predict whether it is</a:t>
            </a:r>
          </a:p>
          <a:p>
            <a:r>
              <a:t>negative, neutral or positive. It is supervised learning, because every training review</a:t>
            </a:r>
          </a:p>
          <a:p>
            <a:r>
              <a:t>already has a label. The practical value is real: on an app that receives thousands of</a:t>
            </a:r>
          </a:p>
          <a:p>
            <a:r>
              <a:t>reviews, we want to spot unhappy users quickly, track satisfaction, and avoid reading</a:t>
            </a:r>
          </a:p>
          <a:p>
            <a:r>
              <a:t>everything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do not use made up data, but real Facebook app reviews downloaded from Kaggle. Each</a:t>
            </a:r>
          </a:p>
          <a:p>
            <a:r>
              <a:t>review has a one to five star rating that we map to sentiment: one or two stars is</a:t>
            </a:r>
          </a:p>
          <a:p>
            <a:r>
              <a:t>negative, three is neutral, four or five is positive. We remove duplicate texts so that</a:t>
            </a:r>
          </a:p>
          <a:p>
            <a:r>
              <a:t>the same review cannot appear in both training and test. About 5,923 reviews remain.</a:t>
            </a:r>
          </a:p>
          <a:p>
            <a:r>
              <a:t>Notice the imbalance: two thirds of the reviews are positive and only four and a half</a:t>
            </a:r>
          </a:p>
          <a:p>
            <a:r>
              <a:t>percent are neutral. This imbalance is at the heart of our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full pipeline, read from left to right. We start from raw text, clean it,</a:t>
            </a:r>
          </a:p>
          <a:p>
            <a:r>
              <a:t>turn it into numbers, we can rebalance the classes and reduce the dimension, then we</a:t>
            </a:r>
          </a:p>
          <a:p>
            <a:r>
              <a:t>train a tuned model, and finally we evaluate. Two engineering choices: we clean once</a:t>
            </a:r>
          </a:p>
          <a:p>
            <a:r>
              <a:t>because that step learns nothing, which makes everything faster, and balancing and</a:t>
            </a:r>
          </a:p>
          <a:p>
            <a:r>
              <a:t>reduction only touch the training data, never the test, so our results stay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Preprocessing follows the classic sequence: lower case, remove punctuation, URLs and</a:t>
            </a:r>
          </a:p>
          <a:p>
            <a:r>
              <a:t>digits, then tokenise, remove common stop words and lemmatise. Two refinements. We keep</a:t>
            </a:r>
          </a:p>
          <a:p>
            <a:r>
              <a:t>negation words, because not good and good have opposite meanings. And lemmatisation</a:t>
            </a:r>
          </a:p>
          <a:p>
            <a:r>
              <a:t>groups word forms, crashing and crash become the same word, which shrinks the</a:t>
            </a:r>
          </a:p>
          <a:p>
            <a:r>
              <a:t>vocabulary. The example at the bottom shows the concrete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Models only understand numbers, so each review is turned into a vector. We compare the</a:t>
            </a:r>
          </a:p>
          <a:p>
            <a:r>
              <a:t>four representations named in the brief. Bag-of-Words counts words. TF-IDF does the same</a:t>
            </a:r>
          </a:p>
          <a:p>
            <a:r>
              <a:t>but values rare, discriminative words. Word2Vec turns each word into a dense vector, and</a:t>
            </a:r>
          </a:p>
          <a:p>
            <a:r>
              <a:t>we use two versions, one trained on our reviews and one pre-trained on Google News, which</a:t>
            </a:r>
          </a:p>
          <a:p>
            <a:r>
              <a:t>is exactly the pre-trained Word2Vec the brief asks for. Note: Multinomial Naive Bayes</a:t>
            </a:r>
          </a:p>
          <a:p>
            <a:r>
              <a:t>needs non negative values, so for the dense embeddings we switch to the Gaussian variant.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compare five classifiers, from the simplest to the richest. Naive Bayes assumes words</a:t>
            </a:r>
          </a:p>
          <a:p>
            <a:r>
              <a:t>are independent, which is false but very effective, and it will be our winner. The</a:t>
            </a:r>
          </a:p>
          <a:p>
            <a:r>
              <a:t>Decision Tree is readable but over fits, hence pruning. The Random Forest averages many</a:t>
            </a:r>
          </a:p>
          <a:p>
            <a:r>
              <a:t>trees. AdaBoost combines shallow stumps, but on sparse text it is weak. Logistic</a:t>
            </a:r>
          </a:p>
          <a:p>
            <a:r>
              <a:t>Regression is a solid regularised baseline. All are tuned with five fold cross validation</a:t>
            </a:r>
          </a:p>
          <a:p>
            <a:r>
              <a:t>and grid search, optimising the macro-F1 that we explain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words to master. Accuracy is the overall share of correct answers, but it misleads</a:t>
            </a:r>
          </a:p>
          <a:p>
            <a:r>
              <a:t>when one class dominates. Precision answers: when the model says a class, is it right.</a:t>
            </a:r>
          </a:p>
          <a:p>
            <a:r>
              <a:t>Recall answers: among the true cases of a class, how many are found. F1 combines the two.</a:t>
            </a:r>
          </a:p>
          <a:p>
            <a:r>
              <a:t>And macro-F1 averages the three per class F1 scores equally, so missing the rare class is</a:t>
            </a:r>
          </a:p>
          <a:p>
            <a:r>
              <a:t>expensive. That is why we tune on macro-F1. Remember the sentence in the blue band.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comparison of all combinations. The best is TF-IDF with Naive Bayes, at</a:t>
            </a:r>
          </a:p>
          <a:p>
            <a:r>
              <a:t>0.559 macro-F1. Two observations: the top five are all count based methods, which makes</a:t>
            </a:r>
          </a:p>
          <a:p>
            <a:r>
              <a:t>sense on short reviews, and AdaBoost is last because its stumps only see one word at a</a:t>
            </a:r>
          </a:p>
          <a:p>
            <a:r>
              <a:t>time out of thousands. The scores are tight, around 0.5, because every model hits the</a:t>
            </a:r>
          </a:p>
          <a:p>
            <a:r>
              <a:t>same difficulty, the tiny neutral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heart of our message. Our best model shows 84 percent accuracy, which</a:t>
            </a:r>
          </a:p>
          <a:p>
            <a:r>
              <a:t>looks excellent. But look at the confusion matrix: the neutral column is completely</a:t>
            </a:r>
          </a:p>
          <a:p>
            <a:r>
              <a:t>empty. The model never predicts the neutral class. The 53 truly neutral reviews are all</a:t>
            </a:r>
          </a:p>
          <a:p>
            <a:r>
              <a:t>sent to negative or positive. The macro-F1 drops to 0.56 and reveals the problem. The</a:t>
            </a:r>
          </a:p>
          <a:p>
            <a:r>
              <a:t>lesson: on imbalanced data, accuracy lies, you must look at the macro-F1 and the per</a:t>
            </a:r>
          </a:p>
          <a:p>
            <a:r>
              <a:t>class recall.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the imbalance. Without any treatment, the neutral recall is exactly zero: the</a:t>
            </a:r>
          </a:p>
          <a:p>
            <a:r>
              <a:t>minority is ignored. SMOTE creates synthetic neutral examples and lifts that recall from</a:t>
            </a:r>
          </a:p>
          <a:p>
            <a:r>
              <a:t>zero to 0.19. Under-sampling goes further, to 0.47, but by throwing away data. So</a:t>
            </a:r>
          </a:p>
          <a:p>
            <a:r>
              <a:t>resampling trades majority accuracy for real recognition of the rare class. This is</a:t>
            </a:r>
          </a:p>
          <a:p>
            <a:r>
              <a:t>exactly what we want on this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Dimensionality reduction. Our TF-IDF matrix has about 4,600 columns. We use TruncatedSVD,</a:t>
            </a:r>
          </a:p>
          <a:p>
            <a:r>
              <a:t>the variant of PCA suited to sparse text. With only 300 components, about six percent of</a:t>
            </a:r>
          </a:p>
          <a:p>
            <a:r>
              <a:t>the columns, we keep almost all the performance. It is an excellent speed and memory</a:t>
            </a:r>
          </a:p>
          <a:p>
            <a:r>
              <a:t>trade off, and it is even necessary before a dense model such as gradient boosting.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Pruning the decision tree. A free tree builds 1,857 nodes and memorises the data, 0.98 in</a:t>
            </a:r>
          </a:p>
          <a:p>
            <a:r>
              <a:t>training but only 0.76 in test, so it over fits. By pruning, we cut the tree to 69 nodes</a:t>
            </a:r>
          </a:p>
          <a:p>
            <a:r>
              <a:t>and the test accuracy rises to 0.79, while the gap between training and test shrinks. If</a:t>
            </a:r>
          </a:p>
          <a:p>
            <a:r>
              <a:t>we prune too much, around 29 nodes, the tree under fits. This is the bias variance trade</a:t>
            </a:r>
          </a:p>
          <a:p>
            <a:r>
              <a:t>off made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Early stopping for gradient boosting, a model that adds trees one by one. We allow up to</a:t>
            </a:r>
          </a:p>
          <a:p>
            <a:r>
              <a:t>500 trees but monitor a validation slice and stop as soon as performance stops improving.</a:t>
            </a:r>
          </a:p>
          <a:p>
            <a:r>
              <a:t>Here it stops after 88 trees out of 500, about six times less computation, with no loss of</a:t>
            </a:r>
          </a:p>
          <a:p>
            <a:r>
              <a:t>test quality and protection against over fitting.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conclude. We built a complete and reproducible pipeline on real Facebook reviews,</a:t>
            </a:r>
          </a:p>
          <a:p>
            <a:r>
              <a:t>compared four text representations and five models, all tuned with cross validation. The</a:t>
            </a:r>
          </a:p>
          <a:p>
            <a:r>
              <a:t>best is TF-IDF with Naive Bayes at 0.559 macro-F1. The main lesson is methodological: on</a:t>
            </a:r>
          </a:p>
          <a:p>
            <a:r>
              <a:t>an imbalanced dataset, accuracy misleads and the macro-F1 tells the truth. SMOTE is what</a:t>
            </a:r>
          </a:p>
          <a:p>
            <a:r>
              <a:t>lets the minority class exist. Thank you, we are ready for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you, we will now take your questions. For metric questions, think macro-F1 and per class recall. For imbalance questions, think SMOTE.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82296"/>
          </a:xfrm>
          <a:prstGeom prst="rect">
            <a:avLst/>
          </a:prstGeom>
          <a:solidFill>
            <a:srgbClr val="F2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Predicting User Sentiment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in Software Issue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4290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CFDDF0"/>
                </a:solidFill>
                <a:latin typeface="Calibri"/>
              </a:rPr>
              <a:t>Classifying real app reviews as negative, neutral or positive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3891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Yann MASSOUAM     ·     Vénus BAKIKO     ·     Faïçal DIELO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CFDDF0"/>
                </a:solidFill>
                <a:latin typeface="Calibri"/>
              </a:rPr>
              <a:t>ST2MLE  ·  Machine Learning for IT Engineers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B728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27A3D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24528A"/>
                </a:solidFill>
                <a:latin typeface="Calibri"/>
              </a:rPr>
              <a:t>What we will cover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188720" cy="50800"/>
          </a:xfrm>
          <a:prstGeom prst="rect">
            <a:avLst/>
          </a:prstGeom>
          <a:solidFill>
            <a:srgbClr val="F2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868680" cy="868680"/>
          </a:xfrm>
          <a:prstGeom prst="roundRect">
            <a:avLst/>
          </a:prstGeom>
          <a:solidFill>
            <a:srgbClr val="245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920240"/>
            <a:ext cx="8686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20242C"/>
                </a:solidFill>
                <a:latin typeface="Calibri"/>
              </a:rPr>
              <a:t>The problem and the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71800"/>
            <a:ext cx="868680" cy="868680"/>
          </a:xfrm>
          <a:prstGeom prst="roundRect">
            <a:avLst/>
          </a:prstGeom>
          <a:solidFill>
            <a:srgbClr val="245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971800"/>
            <a:ext cx="8686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20242C"/>
                </a:solidFill>
                <a:latin typeface="Calibri"/>
              </a:rPr>
              <a:t>The processing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23360"/>
            <a:ext cx="868680" cy="868680"/>
          </a:xfrm>
          <a:prstGeom prst="roundRect">
            <a:avLst/>
          </a:prstGeom>
          <a:solidFill>
            <a:srgbClr val="245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233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023360"/>
            <a:ext cx="8686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20242C"/>
                </a:solidFill>
                <a:latin typeface="Calibri"/>
              </a:rPr>
              <a:t>Metrics and results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074920"/>
            <a:ext cx="868680" cy="868680"/>
          </a:xfrm>
          <a:prstGeom prst="roundRect">
            <a:avLst/>
          </a:prstGeom>
          <a:solidFill>
            <a:srgbClr val="245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07492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5074920"/>
            <a:ext cx="8686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20242C"/>
                </a:solidFill>
                <a:latin typeface="Calibri"/>
              </a:rPr>
              <a:t>Tuning and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46304" cy="1828800"/>
          </a:xfrm>
          <a:prstGeom prst="rect">
            <a:avLst/>
          </a:prstGeom>
          <a:solidFill>
            <a:srgbClr val="F2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965960"/>
            <a:ext cx="27432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0" b="1">
                <a:solidFill>
                  <a:srgbClr val="334E7A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2468880"/>
            <a:ext cx="8229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The problem and the data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CFDDF0"/>
                </a:solidFill>
                <a:latin typeface="Calibri"/>
              </a:rPr>
              <a:t>What we predict, and the reviews we learn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27A3D"/>
                </a:solidFill>
                <a:latin typeface="Calibri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24528A"/>
                </a:solidFill>
                <a:latin typeface="Calibri"/>
              </a:rPr>
              <a:t>Why this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188720" cy="50800"/>
          </a:xfrm>
          <a:prstGeom prst="rect">
            <a:avLst/>
          </a:prstGeom>
          <a:solidFill>
            <a:srgbClr val="F2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6492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1">
                <a:solidFill>
                  <a:srgbClr val="F27A3D"/>
                </a:solidFill>
              </a:rPr>
              <a:t>•  </a:t>
            </a:r>
            <a:r>
              <a:rPr sz="2000">
                <a:solidFill>
                  <a:srgbClr val="20242C"/>
                </a:solidFill>
                <a:latin typeface="Calibri"/>
              </a:rPr>
              <a:t>Goal: read a review, predict its sentiment automatically.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F27A3D"/>
                </a:solidFill>
              </a:rPr>
              <a:t>•  </a:t>
            </a:r>
            <a:r>
              <a:rPr sz="2000">
                <a:solidFill>
                  <a:srgbClr val="20242C"/>
                </a:solidFill>
                <a:latin typeface="Calibri"/>
              </a:rPr>
              <a:t>Three classes: negative, neutral, positive (supervised learning).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F27A3D"/>
                </a:solidFill>
              </a:rPr>
              <a:t>•  </a:t>
            </a:r>
            <a:r>
              <a:rPr sz="2000">
                <a:solidFill>
                  <a:srgbClr val="20242C"/>
                </a:solidFill>
                <a:latin typeface="Calibri"/>
              </a:rPr>
              <a:t>Useful to triage angry reviews, track satisfaction, save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920240"/>
            <a:ext cx="3840480" cy="1325880"/>
          </a:xfrm>
          <a:prstGeom prst="round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24528A"/>
                </a:solidFill>
              </a:rPr>
              <a:t>3 classes</a:t>
            </a:r>
          </a:p>
          <a:p>
            <a:pPr algn="ctr"/>
            <a:r>
              <a:rPr sz="1250">
                <a:solidFill>
                  <a:srgbClr val="6B7280"/>
                </a:solidFill>
              </a:rPr>
              <a:t>negative / neutral / positive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3429000"/>
            <a:ext cx="3840480" cy="1325880"/>
          </a:xfrm>
          <a:prstGeom prst="round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2E9E8F"/>
                </a:solidFill>
              </a:rPr>
              <a:t>Text in</a:t>
            </a:r>
          </a:p>
          <a:p>
            <a:pPr algn="ctr"/>
            <a:r>
              <a:rPr sz="1250">
                <a:solidFill>
                  <a:srgbClr val="6B7280"/>
                </a:solidFill>
              </a:rPr>
              <a:t>one label out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27A3D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24528A"/>
                </a:solidFill>
                <a:latin typeface="Calibri"/>
              </a:rPr>
              <a:t>Real Facebook reviews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188720" cy="50800"/>
          </a:xfrm>
          <a:prstGeom prst="rect">
            <a:avLst/>
          </a:prstGeom>
          <a:solidFill>
            <a:srgbClr val="F2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5080" y="1917694"/>
            <a:ext cx="6216480" cy="402845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62694"/>
            <a:ext cx="6126480" cy="393845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828800"/>
            <a:ext cx="4389120" cy="1234440"/>
          </a:xfrm>
          <a:prstGeom prst="round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24528A"/>
                </a:solidFill>
              </a:rPr>
              <a:t>5,923</a:t>
            </a:r>
          </a:p>
          <a:p>
            <a:pPr algn="ctr"/>
            <a:r>
              <a:rPr sz="1250">
                <a:solidFill>
                  <a:srgbClr val="6B7280"/>
                </a:solidFill>
              </a:rPr>
              <a:t>unique reviews (Kaggle)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3154680"/>
            <a:ext cx="4389120" cy="1234440"/>
          </a:xfrm>
          <a:prstGeom prst="round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2E9E8F"/>
                </a:solidFill>
              </a:rPr>
              <a:t>64 / 31 / 4.5 %</a:t>
            </a:r>
          </a:p>
          <a:p>
            <a:pPr algn="ctr"/>
            <a:r>
              <a:rPr sz="1250">
                <a:solidFill>
                  <a:srgbClr val="6B7280"/>
                </a:solidFill>
              </a:rPr>
              <a:t>positive / negative / neutral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4480560"/>
            <a:ext cx="4389120" cy="1234440"/>
          </a:xfrm>
          <a:prstGeom prst="round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27A3D"/>
                </a:solidFill>
              </a:rPr>
              <a:t>1-5 ★  →  label</a:t>
            </a:r>
          </a:p>
          <a:p>
            <a:pPr algn="ctr"/>
            <a:r>
              <a:rPr sz="1250">
                <a:solidFill>
                  <a:srgbClr val="6B7280"/>
                </a:solidFill>
              </a:rPr>
              <a:t>1-2 neg, 3 neu, 4-5 pos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46304" cy="1828800"/>
          </a:xfrm>
          <a:prstGeom prst="rect">
            <a:avLst/>
          </a:prstGeom>
          <a:solidFill>
            <a:srgbClr val="F2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965960"/>
            <a:ext cx="27432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0" b="1">
                <a:solidFill>
                  <a:srgbClr val="334E7A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2468880"/>
            <a:ext cx="8229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The processing pipeline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CFDDF0"/>
                </a:solidFill>
                <a:latin typeface="Calibri"/>
              </a:rPr>
              <a:t>From raw text to a tuned, evaluated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27A3D"/>
                </a:solidFill>
                <a:latin typeface="Calibr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24528A"/>
                </a:solidFill>
                <a:latin typeface="Calibri"/>
              </a:rPr>
              <a:t>The pipeline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188720" cy="50800"/>
          </a:xfrm>
          <a:prstGeom prst="rect">
            <a:avLst/>
          </a:prstGeom>
          <a:solidFill>
            <a:srgbClr val="F2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468880"/>
            <a:ext cx="1481328" cy="1143000"/>
          </a:xfrm>
          <a:prstGeom prst="roundRect">
            <a:avLst/>
          </a:prstGeom>
          <a:solidFill>
            <a:srgbClr val="245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</a:rPr>
              <a:t>Raw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4248" y="2468880"/>
            <a:ext cx="20459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27A3D"/>
                </a:solidFill>
                <a:latin typeface="Calibri"/>
              </a:rPr>
              <a:t>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40" y="2468880"/>
            <a:ext cx="1481328" cy="1143000"/>
          </a:xfrm>
          <a:prstGeom prst="roundRect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</a:rPr>
              <a:t>Preprocess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0168" y="2468880"/>
            <a:ext cx="20459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27A3D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2468880"/>
            <a:ext cx="1481328" cy="1143000"/>
          </a:xfrm>
          <a:prstGeom prst="roundRect">
            <a:avLst/>
          </a:prstGeom>
          <a:solidFill>
            <a:srgbClr val="245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</a:rPr>
              <a:t>Vectorise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6088" y="2468880"/>
            <a:ext cx="20459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27A3D"/>
                </a:solidFill>
                <a:latin typeface="Calibr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468880"/>
            <a:ext cx="1481328" cy="1143000"/>
          </a:xfrm>
          <a:prstGeom prst="roundRect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</a:rPr>
              <a:t>Balance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2008" y="2468880"/>
            <a:ext cx="20459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27A3D"/>
                </a:solidFill>
                <a:latin typeface="Calibr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2468880"/>
            <a:ext cx="1481328" cy="1143000"/>
          </a:xfrm>
          <a:prstGeom prst="roundRect">
            <a:avLst/>
          </a:prstGeom>
          <a:solidFill>
            <a:srgbClr val="245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</a:rPr>
              <a:t>Reduce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7928" y="2468880"/>
            <a:ext cx="20459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27A3D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2468880"/>
            <a:ext cx="1481328" cy="1143000"/>
          </a:xfrm>
          <a:prstGeom prst="roundRect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</a:rPr>
              <a:t>Model + tune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3848" y="2468880"/>
            <a:ext cx="20459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27A3D"/>
                </a:solidFill>
                <a:latin typeface="Calibr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78440" y="2468880"/>
            <a:ext cx="1481328" cy="1143000"/>
          </a:xfrm>
          <a:prstGeom prst="roundRect">
            <a:avLst/>
          </a:prstGeom>
          <a:solidFill>
            <a:srgbClr val="245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</a:rPr>
              <a:t>Evaluate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9768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20242C"/>
                </a:solidFill>
                <a:latin typeface="Calibri"/>
              </a:rPr>
              <a:t>Preprocess once, then cache the vectorisers: the whole study runs in about 8 minutes.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20242C"/>
                </a:solidFill>
                <a:latin typeface="Calibri"/>
              </a:rPr>
              <a:t>Balancing and reduction touch the training folds only, never the test 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27A3D"/>
                </a:solidFill>
                <a:latin typeface="Calibri"/>
              </a:rPr>
              <a:t>STEP 3A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24528A"/>
                </a:solidFill>
                <a:latin typeface="Calibri"/>
              </a:rPr>
              <a:t>Cleaning the 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188720" cy="50800"/>
          </a:xfrm>
          <a:prstGeom prst="rect">
            <a:avLst/>
          </a:prstGeom>
          <a:solidFill>
            <a:srgbClr val="F2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1">
                <a:solidFill>
                  <a:srgbClr val="F27A3D"/>
                </a:solidFill>
              </a:rPr>
              <a:t>•  </a:t>
            </a:r>
            <a:r>
              <a:rPr sz="2000">
                <a:solidFill>
                  <a:srgbClr val="20242C"/>
                </a:solidFill>
                <a:latin typeface="Calibri"/>
              </a:rPr>
              <a:t>Lower case, remove URLs, punctuation and digits, then lemmatise.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F27A3D"/>
                </a:solidFill>
              </a:rPr>
              <a:t>•  </a:t>
            </a:r>
            <a:r>
              <a:rPr sz="2000">
                <a:solidFill>
                  <a:srgbClr val="20242C"/>
                </a:solidFill>
                <a:latin typeface="Calibri"/>
              </a:rPr>
              <a:t>Keep negations (not, no, never): they flip the sentiment.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023360"/>
            <a:ext cx="10515600" cy="1554480"/>
          </a:xfrm>
          <a:prstGeom prst="round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300" b="1">
                <a:solidFill>
                  <a:srgbClr val="F27A3D"/>
                </a:solidFill>
              </a:rPr>
              <a:t>Example</a:t>
            </a:r>
          </a:p>
          <a:p>
            <a:r>
              <a:rPr sz="1700">
                <a:solidFill>
                  <a:srgbClr val="20242C"/>
                </a:solidFill>
              </a:rPr>
              <a:t>"Critical issue, the app keeps crashing!!!"   →   "critical issue app keep crash"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27A3D"/>
                </a:solidFill>
                <a:latin typeface="Calibri"/>
              </a:rPr>
              <a:t>STEP 3B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24528A"/>
                </a:solidFill>
                <a:latin typeface="Calibri"/>
              </a:rPr>
              <a:t>Turning text into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188720" cy="50800"/>
          </a:xfrm>
          <a:prstGeom prst="rect">
            <a:avLst/>
          </a:prstGeom>
          <a:solidFill>
            <a:srgbClr val="F2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3749039" cy="868680"/>
          </a:xfrm>
          <a:prstGeom prst="roundRect">
            <a:avLst/>
          </a:prstGeom>
          <a:solidFill>
            <a:srgbClr val="245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FFFFF"/>
                </a:solidFill>
              </a:rPr>
              <a:t>Bag-of-Words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874519"/>
            <a:ext cx="5120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20242C"/>
                </a:solidFill>
                <a:latin typeface="Calibri"/>
              </a:rPr>
              <a:t>counts each word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1874519"/>
            <a:ext cx="1417320" cy="868680"/>
          </a:xfrm>
          <a:prstGeom prst="roundRect">
            <a:avLst/>
          </a:prstGeom>
          <a:solidFill>
            <a:srgbClr val="F2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sparse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98647"/>
            <a:ext cx="3749039" cy="868680"/>
          </a:xfrm>
          <a:prstGeom prst="roundRect">
            <a:avLst/>
          </a:prstGeom>
          <a:solidFill>
            <a:srgbClr val="245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TF-IDF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898647"/>
            <a:ext cx="5120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20242C"/>
                </a:solidFill>
                <a:latin typeface="Calibri"/>
              </a:rPr>
              <a:t>counts weighted by rarity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2898647"/>
            <a:ext cx="1417320" cy="868680"/>
          </a:xfrm>
          <a:prstGeom prst="roundRect">
            <a:avLst/>
          </a:prstGeom>
          <a:solidFill>
            <a:srgbClr val="F2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sparse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922775"/>
            <a:ext cx="3749039" cy="868680"/>
          </a:xfrm>
          <a:prstGeom prst="roundRect">
            <a:avLst/>
          </a:prstGeom>
          <a:solidFill>
            <a:srgbClr val="245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FFFFF"/>
                </a:solidFill>
              </a:rPr>
              <a:t>Word2Vec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922775"/>
            <a:ext cx="5120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20242C"/>
                </a:solidFill>
                <a:latin typeface="Calibri"/>
              </a:rPr>
              <a:t>embeddings learned on our reviews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3922775"/>
            <a:ext cx="1417320" cy="868680"/>
          </a:xfrm>
          <a:prstGeom prst="roundRect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FFFFF"/>
                </a:solidFill>
              </a:rPr>
              <a:t>dense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946903"/>
            <a:ext cx="3749039" cy="868680"/>
          </a:xfrm>
          <a:prstGeom prst="roundRect">
            <a:avLst/>
          </a:prstGeom>
          <a:solidFill>
            <a:srgbClr val="245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FFFFF"/>
                </a:solidFill>
              </a:rPr>
              <a:t>Word2Vec pre-trained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946903"/>
            <a:ext cx="5120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20242C"/>
                </a:solidFill>
                <a:latin typeface="Calibri"/>
              </a:rPr>
              <a:t>Google News vectors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4946903"/>
            <a:ext cx="1417320" cy="868680"/>
          </a:xfrm>
          <a:prstGeom prst="roundRect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FFFFF"/>
                </a:solidFill>
              </a:rPr>
              <a:t>dense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27A3D"/>
                </a:solidFill>
                <a:latin typeface="Calibri"/>
              </a:rPr>
              <a:t>STEP 3C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24528A"/>
                </a:solidFill>
                <a:latin typeface="Calibri"/>
              </a:rPr>
              <a:t>Five classifiers compared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188720" cy="50800"/>
          </a:xfrm>
          <a:prstGeom prst="rect">
            <a:avLst/>
          </a:prstGeom>
          <a:solidFill>
            <a:srgbClr val="F2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2121408" cy="1554480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Naive Bayes</a:t>
            </a:r>
          </a:p>
          <a:p>
            <a:pPr algn="ctr"/>
            <a:r>
              <a:rPr sz="1050">
                <a:solidFill>
                  <a:srgbClr val="FFFFFF"/>
                </a:solidFill>
              </a:rPr>
              <a:t>fast, robust, winner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52928" y="2103120"/>
            <a:ext cx="2121408" cy="1554480"/>
          </a:xfrm>
          <a:prstGeom prst="roundRect">
            <a:avLst/>
          </a:prstGeom>
          <a:solidFill>
            <a:srgbClr val="245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FFFFF"/>
                </a:solidFill>
              </a:rPr>
              <a:t>Decision Tree</a:t>
            </a:r>
          </a:p>
          <a:p>
            <a:pPr algn="ctr"/>
            <a:r>
              <a:rPr sz="1050">
                <a:solidFill>
                  <a:srgbClr val="FFFFFF"/>
                </a:solidFill>
              </a:rPr>
              <a:t>readable, needs pruning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65776" y="2103120"/>
            <a:ext cx="2121408" cy="1554480"/>
          </a:xfrm>
          <a:prstGeom prst="roundRect">
            <a:avLst/>
          </a:prstGeom>
          <a:solidFill>
            <a:srgbClr val="245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Random Forest</a:t>
            </a:r>
          </a:p>
          <a:p>
            <a:pPr algn="ctr"/>
            <a:r>
              <a:rPr sz="1050">
                <a:solidFill>
                  <a:srgbClr val="FFFFFF"/>
                </a:solidFill>
              </a:rPr>
              <a:t>many averaged trees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78624" y="2103120"/>
            <a:ext cx="2121408" cy="1554480"/>
          </a:xfrm>
          <a:prstGeom prst="roundRect">
            <a:avLst/>
          </a:prstGeom>
          <a:solidFill>
            <a:srgbClr val="C04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AdaBoost</a:t>
            </a:r>
          </a:p>
          <a:p>
            <a:pPr algn="ctr"/>
            <a:r>
              <a:rPr sz="1050">
                <a:solidFill>
                  <a:srgbClr val="FFFFFF"/>
                </a:solidFill>
              </a:rPr>
              <a:t>weak on sparse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91472" y="2103120"/>
            <a:ext cx="2121408" cy="1554480"/>
          </a:xfrm>
          <a:prstGeom prst="roundRect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FFFFF"/>
                </a:solidFill>
              </a:rPr>
              <a:t>Logistic Reg.</a:t>
            </a:r>
          </a:p>
          <a:p>
            <a:pPr algn="ctr"/>
            <a:r>
              <a:rPr sz="1050">
                <a:solidFill>
                  <a:srgbClr val="FFFFFF"/>
                </a:solidFill>
              </a:rPr>
              <a:t>regularised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0624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0242C"/>
                </a:solidFill>
                <a:latin typeface="Calibri"/>
              </a:rPr>
              <a:t>All tuned with 5-fold cross-validation and grid search, scored on macro-F1.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46304" cy="1828800"/>
          </a:xfrm>
          <a:prstGeom prst="rect">
            <a:avLst/>
          </a:prstGeom>
          <a:solidFill>
            <a:srgbClr val="F2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965960"/>
            <a:ext cx="27432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0" b="1">
                <a:solidFill>
                  <a:srgbClr val="334E7A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2468880"/>
            <a:ext cx="8229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Metrics and results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CFDDF0"/>
                </a:solidFill>
                <a:latin typeface="Calibri"/>
              </a:rPr>
              <a:t>Reading the numbers correctly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27A3D"/>
                </a:solidFill>
                <a:latin typeface="Calibri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24528A"/>
                </a:solidFill>
                <a:latin typeface="Calibri"/>
              </a:rPr>
              <a:t>The metrics, in one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188720" cy="50800"/>
          </a:xfrm>
          <a:prstGeom prst="rect">
            <a:avLst/>
          </a:prstGeom>
          <a:solidFill>
            <a:srgbClr val="F2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2697480" cy="1737360"/>
          </a:xfrm>
          <a:prstGeom prst="round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900" b="1">
                <a:solidFill>
                  <a:srgbClr val="24528A"/>
                </a:solidFill>
              </a:rPr>
              <a:t>Accuracy</a:t>
            </a:r>
          </a:p>
          <a:p>
            <a:pPr algn="ctr"/>
            <a:r>
              <a:rPr sz="1300">
                <a:solidFill>
                  <a:srgbClr val="6B7280"/>
                </a:solidFill>
              </a:rPr>
              <a:t>share of correct predictions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965960"/>
            <a:ext cx="2697480" cy="1737360"/>
          </a:xfrm>
          <a:prstGeom prst="round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900" b="1">
                <a:solidFill>
                  <a:srgbClr val="24528A"/>
                </a:solidFill>
              </a:rPr>
              <a:t>Precision</a:t>
            </a:r>
          </a:p>
          <a:p>
            <a:pPr algn="ctr"/>
            <a:r>
              <a:rPr sz="1300">
                <a:solidFill>
                  <a:srgbClr val="6B7280"/>
                </a:solidFill>
              </a:rPr>
              <a:t>when it says X, is it right?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65960"/>
            <a:ext cx="2697480" cy="1737360"/>
          </a:xfrm>
          <a:prstGeom prst="round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900" b="1">
                <a:solidFill>
                  <a:srgbClr val="24528A"/>
                </a:solidFill>
              </a:rPr>
              <a:t>Recall</a:t>
            </a:r>
          </a:p>
          <a:p>
            <a:pPr algn="ctr"/>
            <a:r>
              <a:rPr sz="1300">
                <a:solidFill>
                  <a:srgbClr val="6B7280"/>
                </a:solidFill>
              </a:rPr>
              <a:t>of true X, how many found?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965960"/>
            <a:ext cx="2697480" cy="1737360"/>
          </a:xfrm>
          <a:prstGeom prst="round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900" b="1">
                <a:solidFill>
                  <a:srgbClr val="24528A"/>
                </a:solidFill>
              </a:rPr>
              <a:t>Macro-F1</a:t>
            </a:r>
          </a:p>
          <a:p>
            <a:pPr algn="ctr"/>
            <a:r>
              <a:rPr sz="1300">
                <a:solidFill>
                  <a:srgbClr val="6B7280"/>
                </a:solidFill>
              </a:rPr>
              <a:t>the three classes, equally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14800"/>
            <a:ext cx="10927080" cy="1371600"/>
          </a:xfrm>
          <a:prstGeom prst="roundRect">
            <a:avLst/>
          </a:prstGeom>
          <a:solidFill>
            <a:srgbClr val="245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On an imbalanced dataset, watch the macro-F1 and the per class recall, not just the accuracy.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27A3D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24528A"/>
                </a:solidFill>
                <a:latin typeface="Calibri"/>
              </a:rPr>
              <a:t>Model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188720" cy="50800"/>
          </a:xfrm>
          <a:prstGeom prst="rect">
            <a:avLst/>
          </a:prstGeom>
          <a:solidFill>
            <a:srgbClr val="F2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3640" y="1824440"/>
            <a:ext cx="7679520" cy="43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mparison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69440"/>
            <a:ext cx="7589520" cy="4216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03920" y="2011680"/>
            <a:ext cx="3108960" cy="1645920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</a:rPr>
              <a:t>0.559</a:t>
            </a:r>
          </a:p>
          <a:p>
            <a:pPr algn="ctr"/>
            <a:r>
              <a:rPr sz="1250">
                <a:solidFill>
                  <a:srgbClr val="FFFFFF"/>
                </a:solidFill>
              </a:rPr>
              <a:t>best macro-F1</a:t>
            </a:r>
          </a:p>
          <a:p>
            <a:pPr algn="ctr"/>
            <a:r>
              <a:rPr sz="1250">
                <a:solidFill>
                  <a:srgbClr val="FFFFFF"/>
                </a:solidFill>
              </a:rPr>
              <a:t>TF-IDF + Naive Bayes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977639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F27A3D"/>
                </a:solidFill>
              </a:rPr>
              <a:t>•  </a:t>
            </a:r>
            <a:r>
              <a:rPr sz="1500">
                <a:solidFill>
                  <a:srgbClr val="20242C"/>
                </a:solidFill>
                <a:latin typeface="Calibri"/>
              </a:rPr>
              <a:t>Top 5 are all TF-IDF / BoW.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27A3D"/>
                </a:solidFill>
              </a:rPr>
              <a:t>•  </a:t>
            </a:r>
            <a:r>
              <a:rPr sz="1500">
                <a:solidFill>
                  <a:srgbClr val="20242C"/>
                </a:solidFill>
                <a:latin typeface="Calibri"/>
              </a:rPr>
              <a:t>AdaBoost comes last.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27A3D"/>
                </a:solidFill>
                <a:latin typeface="Calibri"/>
              </a:rPr>
              <a:t>KEY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24528A"/>
                </a:solidFill>
                <a:latin typeface="Calibri"/>
              </a:rPr>
              <a:t>The accuracy trap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188720" cy="50800"/>
          </a:xfrm>
          <a:prstGeom prst="rect">
            <a:avLst/>
          </a:prstGeom>
          <a:solidFill>
            <a:srgbClr val="F2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4600" y="1738080"/>
            <a:ext cx="5454480" cy="44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F-IDF_NaiveBay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83080"/>
            <a:ext cx="536448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1920240"/>
            <a:ext cx="5029200" cy="1554480"/>
          </a:xfrm>
          <a:prstGeom prst="round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2E7D5B"/>
                </a:solidFill>
              </a:rPr>
              <a:t>0.84</a:t>
            </a:r>
          </a:p>
          <a:p>
            <a:pPr algn="ctr"/>
            <a:r>
              <a:rPr sz="1250">
                <a:solidFill>
                  <a:srgbClr val="6B7280"/>
                </a:solidFill>
              </a:rPr>
              <a:t>accuracy  (looks great)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611880"/>
            <a:ext cx="5029200" cy="1554480"/>
          </a:xfrm>
          <a:prstGeom prst="roundRect">
            <a:avLst/>
          </a:prstGeom>
          <a:solidFill>
            <a:srgbClr val="FB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C04432"/>
                </a:solidFill>
              </a:rPr>
              <a:t>0.000</a:t>
            </a:r>
          </a:p>
          <a:p>
            <a:pPr algn="ctr"/>
            <a:r>
              <a:rPr sz="1250">
                <a:solidFill>
                  <a:srgbClr val="C04432"/>
                </a:solidFill>
              </a:rPr>
              <a:t>neutral recall  (never predicted!)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27A3D"/>
                </a:solidFill>
                <a:latin typeface="Calibri"/>
              </a:rPr>
              <a:t>KEY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24528A"/>
                </a:solidFill>
                <a:latin typeface="Calibri"/>
              </a:rPr>
              <a:t>What SMOTE fixes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188720" cy="50800"/>
          </a:xfrm>
          <a:prstGeom prst="rect">
            <a:avLst/>
          </a:prstGeom>
          <a:solidFill>
            <a:srgbClr val="F2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Strategy             Accuracy        Neutral recall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6400800" cy="777240"/>
          </a:xfrm>
          <a:prstGeom prst="round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3017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0242C"/>
                </a:solidFill>
                <a:latin typeface="Calibri"/>
              </a:rPr>
              <a:t>No resampling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86000"/>
            <a:ext cx="1554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0.836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286000"/>
            <a:ext cx="1554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C04432"/>
                </a:solidFill>
                <a:latin typeface="Calibri"/>
              </a:rPr>
              <a:t>0.000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00400"/>
            <a:ext cx="6400800" cy="777240"/>
          </a:xfrm>
          <a:prstGeom prst="round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00400"/>
            <a:ext cx="3017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0242C"/>
                </a:solidFill>
                <a:latin typeface="Calibri"/>
              </a:rPr>
              <a:t>SMOTE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200400"/>
            <a:ext cx="1554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0.727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200400"/>
            <a:ext cx="1554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2E9E8F"/>
                </a:solidFill>
                <a:latin typeface="Calibri"/>
              </a:rPr>
              <a:t>0.189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14800"/>
            <a:ext cx="6400800" cy="777240"/>
          </a:xfrm>
          <a:prstGeom prst="round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14800"/>
            <a:ext cx="3017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0242C"/>
                </a:solidFill>
                <a:latin typeface="Calibri"/>
              </a:rPr>
              <a:t>Under-sampling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114800"/>
            <a:ext cx="1554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0.601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4114800"/>
            <a:ext cx="1554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2E7D5B"/>
                </a:solidFill>
                <a:latin typeface="Calibri"/>
              </a:rPr>
              <a:t>0.472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2286000"/>
            <a:ext cx="3840480" cy="2606040"/>
          </a:xfrm>
          <a:prstGeom prst="roundRect">
            <a:avLst/>
          </a:prstGeom>
          <a:solidFill>
            <a:srgbClr val="16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27A3D"/>
                </a:solidFill>
              </a:rPr>
              <a:t>0.00 → 0.47</a:t>
            </a:r>
          </a:p>
          <a:p>
            <a:pPr algn="ctr"/>
            <a:r>
              <a:rPr sz="1250">
                <a:solidFill>
                  <a:srgbClr val="CFDDF0"/>
                </a:solidFill>
              </a:rPr>
              <a:t>neutral recall recovered</a:t>
            </a:r>
          </a:p>
          <a:p>
            <a:pPr algn="ctr"/>
            <a:r>
              <a:rPr sz="1250">
                <a:solidFill>
                  <a:srgbClr val="CFDDF0"/>
                </a:solidFill>
              </a:rPr>
              <a:t>by resampling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46304" cy="1828800"/>
          </a:xfrm>
          <a:prstGeom prst="rect">
            <a:avLst/>
          </a:prstGeom>
          <a:solidFill>
            <a:srgbClr val="F2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965960"/>
            <a:ext cx="27432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0" b="1">
                <a:solidFill>
                  <a:srgbClr val="334E7A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2468880"/>
            <a:ext cx="8229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Tuning and conclusion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CFDDF0"/>
                </a:solidFill>
                <a:latin typeface="Calibri"/>
              </a:rPr>
              <a:t>Reduction, pruning, early stopping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27A3D"/>
                </a:solidFill>
                <a:latin typeface="Calibri"/>
              </a:rPr>
              <a:t>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24528A"/>
                </a:solidFill>
                <a:latin typeface="Calibri"/>
              </a:rPr>
              <a:t>Dimensionality reduction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188720" cy="50800"/>
          </a:xfrm>
          <a:prstGeom prst="rect">
            <a:avLst/>
          </a:prstGeom>
          <a:solidFill>
            <a:srgbClr val="F2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5080" y="1787066"/>
            <a:ext cx="6765120" cy="43811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ca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32066"/>
            <a:ext cx="6675120" cy="42911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80960" y="2103120"/>
            <a:ext cx="3840480" cy="1645920"/>
          </a:xfrm>
          <a:prstGeom prst="round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24528A"/>
                </a:solidFill>
              </a:rPr>
              <a:t>300 dims</a:t>
            </a:r>
          </a:p>
          <a:p>
            <a:pPr algn="ctr"/>
            <a:r>
              <a:rPr sz="1250">
                <a:solidFill>
                  <a:srgbClr val="6B7280"/>
                </a:solidFill>
              </a:rPr>
              <a:t>keep ~99% of the score</a:t>
            </a:r>
          </a:p>
          <a:p>
            <a:pPr algn="ctr"/>
            <a:r>
              <a:rPr sz="1250">
                <a:solidFill>
                  <a:srgbClr val="6B7280"/>
                </a:solidFill>
              </a:rPr>
              <a:t>from 4,600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402336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F27A3D"/>
                </a:solidFill>
              </a:rPr>
              <a:t>•  </a:t>
            </a:r>
            <a:r>
              <a:rPr sz="1500">
                <a:solidFill>
                  <a:srgbClr val="20242C"/>
                </a:solidFill>
                <a:latin typeface="Calibri"/>
              </a:rPr>
              <a:t>TruncatedSVD, the PCA for sparse text.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27A3D"/>
                </a:solidFill>
              </a:rPr>
              <a:t>•  </a:t>
            </a:r>
            <a:r>
              <a:rPr sz="1500">
                <a:solidFill>
                  <a:srgbClr val="20242C"/>
                </a:solidFill>
                <a:latin typeface="Calibri"/>
              </a:rPr>
              <a:t>Big speed and memory win.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27A3D"/>
                </a:solidFill>
                <a:latin typeface="Calibri"/>
              </a:rPr>
              <a:t>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24528A"/>
                </a:solidFill>
                <a:latin typeface="Calibri"/>
              </a:rPr>
              <a:t>Decision tree pruning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188720" cy="50800"/>
          </a:xfrm>
          <a:prstGeom prst="rect">
            <a:avLst/>
          </a:prstGeom>
          <a:solidFill>
            <a:srgbClr val="F2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5080" y="1787066"/>
            <a:ext cx="6765120" cy="43811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uning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32066"/>
            <a:ext cx="6675120" cy="42911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80960" y="2103120"/>
            <a:ext cx="3840480" cy="1645920"/>
          </a:xfrm>
          <a:prstGeom prst="round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24528A"/>
                </a:solidFill>
              </a:rPr>
              <a:t>1,857 → 69</a:t>
            </a:r>
          </a:p>
          <a:p>
            <a:pPr algn="ctr"/>
            <a:r>
              <a:rPr sz="1250">
                <a:solidFill>
                  <a:srgbClr val="6B7280"/>
                </a:solidFill>
              </a:rPr>
              <a:t>nodes, while test accuracy</a:t>
            </a:r>
          </a:p>
          <a:p>
            <a:pPr algn="ctr"/>
            <a:r>
              <a:rPr sz="1250">
                <a:solidFill>
                  <a:srgbClr val="6B7280"/>
                </a:solidFill>
              </a:rPr>
              <a:t>rises 0.76 → 0.79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402336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F27A3D"/>
                </a:solidFill>
              </a:rPr>
              <a:t>•  </a:t>
            </a:r>
            <a:r>
              <a:rPr sz="1500">
                <a:solidFill>
                  <a:srgbClr val="20242C"/>
                </a:solidFill>
                <a:latin typeface="Calibri"/>
              </a:rPr>
              <a:t>Unpruned tree over fits.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27A3D"/>
                </a:solidFill>
              </a:rPr>
              <a:t>•  </a:t>
            </a:r>
            <a:r>
              <a:rPr sz="1500">
                <a:solidFill>
                  <a:srgbClr val="20242C"/>
                </a:solidFill>
                <a:latin typeface="Calibri"/>
              </a:rPr>
              <a:t>Bias-variance, made visible.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27A3D"/>
                </a:solidFill>
                <a:latin typeface="Calibri"/>
              </a:rPr>
              <a:t>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24528A"/>
                </a:solidFill>
                <a:latin typeface="Calibri"/>
              </a:rPr>
              <a:t>Early stopping in boosting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188720" cy="50800"/>
          </a:xfrm>
          <a:prstGeom prst="rect">
            <a:avLst/>
          </a:prstGeom>
          <a:solidFill>
            <a:srgbClr val="F2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5080" y="1787066"/>
            <a:ext cx="6765120" cy="43811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arly_sto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32066"/>
            <a:ext cx="6675120" cy="42911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80960" y="2103120"/>
            <a:ext cx="3840480" cy="1645920"/>
          </a:xfrm>
          <a:prstGeom prst="round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24528A"/>
                </a:solidFill>
              </a:rPr>
              <a:t>88 / 500</a:t>
            </a:r>
          </a:p>
          <a:p>
            <a:pPr algn="ctr"/>
            <a:r>
              <a:rPr sz="1250">
                <a:solidFill>
                  <a:srgbClr val="6B7280"/>
                </a:solidFill>
              </a:rPr>
              <a:t>trees used before stopping</a:t>
            </a:r>
          </a:p>
          <a:p>
            <a:pPr algn="ctr"/>
            <a:r>
              <a:rPr sz="1250">
                <a:solidFill>
                  <a:srgbClr val="6B7280"/>
                </a:solidFill>
              </a:rPr>
              <a:t>about 6x less computation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402336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F27A3D"/>
                </a:solidFill>
              </a:rPr>
              <a:t>•  </a:t>
            </a:r>
            <a:r>
              <a:rPr sz="1500">
                <a:solidFill>
                  <a:srgbClr val="20242C"/>
                </a:solidFill>
                <a:latin typeface="Calibri"/>
              </a:rPr>
              <a:t>Stop when validation plateaus.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27A3D"/>
                </a:solidFill>
              </a:rPr>
              <a:t>•  </a:t>
            </a:r>
            <a:r>
              <a:rPr sz="1500">
                <a:solidFill>
                  <a:srgbClr val="20242C"/>
                </a:solidFill>
                <a:latin typeface="Calibri"/>
              </a:rPr>
              <a:t>Guards against over fitting.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27A3D"/>
                </a:solidFill>
                <a:latin typeface="Calibri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24528A"/>
                </a:solidFill>
                <a:latin typeface="Calibri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188720" cy="50800"/>
          </a:xfrm>
          <a:prstGeom prst="rect">
            <a:avLst/>
          </a:prstGeom>
          <a:solidFill>
            <a:srgbClr val="F2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1">
                <a:solidFill>
                  <a:srgbClr val="F27A3D"/>
                </a:solidFill>
              </a:rPr>
              <a:t>•  </a:t>
            </a:r>
            <a:r>
              <a:rPr sz="2000">
                <a:solidFill>
                  <a:srgbClr val="20242C"/>
                </a:solidFill>
                <a:latin typeface="Calibri"/>
              </a:rPr>
              <a:t>Complete, reproducible pipeline on real Facebook reviews.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F27A3D"/>
                </a:solidFill>
              </a:rPr>
              <a:t>•  </a:t>
            </a:r>
            <a:r>
              <a:rPr sz="2000">
                <a:solidFill>
                  <a:srgbClr val="20242C"/>
                </a:solidFill>
                <a:latin typeface="Calibri"/>
              </a:rPr>
              <a:t>Best model: TF-IDF + Naive Bayes, macro-F1 0.559.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F27A3D"/>
                </a:solidFill>
              </a:rPr>
              <a:t>•  </a:t>
            </a:r>
            <a:r>
              <a:rPr sz="2000">
                <a:solidFill>
                  <a:srgbClr val="20242C"/>
                </a:solidFill>
                <a:latin typeface="Calibri"/>
              </a:rPr>
              <a:t>Accuracy misleads, macro-F1 tells the truth.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F27A3D"/>
                </a:solidFill>
              </a:rPr>
              <a:t>•  </a:t>
            </a:r>
            <a:r>
              <a:rPr sz="2000">
                <a:solidFill>
                  <a:srgbClr val="20242C"/>
                </a:solidFill>
                <a:latin typeface="Calibri"/>
              </a:rPr>
              <a:t>SMOTE gives the minority class a voice.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937760"/>
            <a:ext cx="5394960" cy="1097280"/>
          </a:xfrm>
          <a:prstGeom prst="roundRect">
            <a:avLst/>
          </a:prstGeom>
          <a:solidFill>
            <a:srgbClr val="16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27A3D"/>
                </a:solidFill>
              </a:rPr>
              <a:t>macro-F1, not accuracy</a:t>
            </a:r>
          </a:p>
          <a:p>
            <a:pPr algn="ctr"/>
            <a:r>
              <a:rPr sz="1250">
                <a:solidFill>
                  <a:srgbClr val="CFDDF0"/>
                </a:solidFill>
              </a:rPr>
              <a:t>the headline lesson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937760"/>
            <a:ext cx="5120640" cy="1097280"/>
          </a:xfrm>
          <a:prstGeom prst="roundRect">
            <a:avLst/>
          </a:prstGeom>
          <a:solidFill>
            <a:srgbClr val="16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27A3D"/>
                </a:solidFill>
              </a:rPr>
              <a:t>SMOTE: 0.00 → 0.47</a:t>
            </a:r>
          </a:p>
          <a:p>
            <a:pPr algn="ctr"/>
            <a:r>
              <a:rPr sz="1250">
                <a:solidFill>
                  <a:srgbClr val="CFDDF0"/>
                </a:solidFill>
              </a:rPr>
              <a:t>neutral recall recovered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82296"/>
          </a:xfrm>
          <a:prstGeom prst="rect">
            <a:avLst/>
          </a:prstGeom>
          <a:solidFill>
            <a:srgbClr val="F2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2400" b="0">
                <a:solidFill>
                  <a:srgbClr val="CFDDF0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Yann MASSOUAM   ·   Vénus BAKIKO   ·   Faïçal DIELO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